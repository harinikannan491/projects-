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3"/>
  </p:sldMasterIdLst>
  <p:notesMasterIdLst>
    <p:notesMasterId r:id="rId5"/>
  </p:notesMasterIdLst>
  <p:sldIdLst>
    <p:sldId id="257" r:id="rId4"/>
    <p:sldId id="258" r:id="rId6"/>
    <p:sldId id="259" r:id="rId7"/>
    <p:sldId id="260" r:id="rId8"/>
    <p:sldId id="261" r:id="rId9"/>
    <p:sldId id="276" r:id="rId10"/>
    <p:sldId id="264" r:id="rId11"/>
    <p:sldId id="265" r:id="rId12"/>
    <p:sldId id="266" r:id="rId13"/>
    <p:sldId id="280" r:id="rId14"/>
    <p:sldId id="281" r:id="rId15"/>
    <p:sldId id="282" r:id="rId16"/>
    <p:sldId id="278" r:id="rId17"/>
    <p:sldId id="277" r:id="rId18"/>
    <p:sldId id="279" r:id="rId19"/>
    <p:sldId id="271" r:id="rId20"/>
    <p:sldId id="272" r:id="rId21"/>
    <p:sldId id="273" r:id="rId22"/>
    <p:sldId id="274" r:id="rId23"/>
  </p:sldIdLst>
  <p:sldSz cx="12192000" cy="6858000"/>
  <p:notesSz cx="7772400" cy="10058400"/>
  <p:embeddedFontLst>
    <p:embeddedFont>
      <p:font typeface="Calibri" panose="020F0502020204030204"/>
      <p:regular r:id="rId27"/>
      <p:bold r:id="rId28"/>
      <p:italic r:id="rId29"/>
      <p:boldItalic r:id="rId30"/>
    </p:embeddedFont>
    <p:embeddedFont>
      <p:font typeface="Arial Narrow" panose="020B0606020202030204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1" autoAdjust="0"/>
  </p:normalViewPr>
  <p:slideViewPr>
    <p:cSldViewPr snapToGrid="0" showGuide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4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878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78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78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78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  <a:defRPr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4878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 panose="02020603050405020304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Google Shape;142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590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591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153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05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06" name="Google Shape;155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162;p3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11" name="Google Shape;1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2" name="Google Shape;164;p3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71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17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18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80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23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24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Google Shape;198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40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41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46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47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52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53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52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53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52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53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52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53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75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76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81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82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87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88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Google Shape;243;g7d84d380f2533759_9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91" name="Google Shape;244;g7d84d380f2533759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92" name="Google Shape;245;g7d84d380f2533759_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6;p2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3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Google Shape;20;p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2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</a:lvl9pPr>
          </a:lstStyle>
          <a:p/>
        </p:txBody>
      </p:sp>
      <p:sp>
        <p:nvSpPr>
          <p:cNvPr id="1048754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Google Shape;25;p4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6" name="Google Shape;26;p4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70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48772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3" name="Google Shape;35;p6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74" name="Google Shape;36;p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775" name="Google Shape;37;p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777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Google Shape;41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37" name="Google Shape;42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1048738" name="Google Shape;43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48739" name="Google Shape;44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1048740" name="Google Shape;45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48742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80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Google Shape;56;p1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56" name="Google Shape;57;p10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1048757" name="Google Shape;58;p10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8759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Google Shape;62;p1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61" name="Google Shape;63;p1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762" name="Google Shape;64;p1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8763" name="Google Shape;65;p1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64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Google Shape;68;p12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8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9" name="Google Shape;70;p1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50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Google Shape;73;p13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45" name="Google Shape;75;p1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4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84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98" name="Google Shape;85;p1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00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Google Shape;99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32" name="Google Shape;100;p18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733" name="Google Shape;101;p18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734" name="Google Shape;102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35" name="Google Shape;103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Google Shape;105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25" name="Google Shape;106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1048726" name="Google Shape;107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48727" name="Google Shape;108;p19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1048728" name="Google Shape;109;p19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48729" name="Google Shape;110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30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Google Shape;113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4" name="Google Shape;114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695" name="Google Shape;115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Google Shape;11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23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Google Shape;120;p22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1048702" name="Google Shape;122;p22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8703" name="Google Shape;123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04" name="Google Shape;124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Google Shape;126;p2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6" name="Google Shape;127;p2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707" name="Google Shape;128;p2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8708" name="Google Shape;129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09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Google Shape;132;p2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1" name="Google Shape;133;p2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2" name="Google Shape;134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713" name="Google Shape;135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Google Shape;137;p25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7" name="Google Shape;138;p25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8" name="Google Shape;139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699" name="Google Shape;140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577" name="Google Shape;11;p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/>
              <a:t>13/12/2025</a:t>
            </a:r>
            <a:endParaRPr lang="en-US"/>
          </a:p>
        </p:txBody>
      </p:sp>
      <p:sp>
        <p:nvSpPr>
          <p:cNvPr id="1048578" name="Google Shape;12;p1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8579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048580" name="Google Shape;14;p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–"/>
              <a:def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•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–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»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78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593" name="Google Shape;79;p1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/>
              <a:buChar char="•"/>
              <a:defRPr sz="3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Char char="–"/>
              <a:defRPr sz="2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•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–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Char char="»"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594" name="Google Shape;80;p1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/>
              <a:t>2/6/2025</a:t>
            </a:r>
            <a:endParaRPr lang="en-US"/>
          </a:p>
        </p:txBody>
      </p:sp>
      <p:sp>
        <p:nvSpPr>
          <p:cNvPr id="1048595" name="Google Shape;81;p14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8596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  <a:defRPr sz="1200" b="0" i="0" u="none" strike="noStrike" cap="none">
                <a:solidFill>
                  <a:srgbClr val="8B8B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Google Shape;147;p26"/>
          <p:cNvSpPr/>
          <p:nvPr/>
        </p:nvSpPr>
        <p:spPr>
          <a:xfrm>
            <a:off x="1679575" y="-1684338"/>
            <a:ext cx="3543300" cy="351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097152" name="Google Shape;148;p2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300038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5" name="Google Shape;149;p26"/>
          <p:cNvSpPr/>
          <p:nvPr/>
        </p:nvSpPr>
        <p:spPr>
          <a:xfrm>
            <a:off x="2029618" y="414338"/>
            <a:ext cx="8437563" cy="301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K. RAMAKRISHNAN COLLEGE OF ENGINEERING</a:t>
            </a: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(AUTONOMOUS), SAMAYAPURAM – TRICHY</a:t>
            </a:r>
            <a:endParaRPr lang="en-GB" sz="2000" b="1" i="0" u="none" strike="noStrike" cap="none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DEPARTMENT OF </a:t>
            </a: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endParaRPr lang="en-GB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CGB1201-</a:t>
            </a:r>
            <a:r>
              <a:rPr lang="en-GB" sz="2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JAVA PROGRAMMING </a:t>
            </a:r>
            <a:endParaRPr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endParaRPr sz="20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 panose="02020603050405020304"/>
              <a:buNone/>
            </a:pPr>
            <a:endParaRPr sz="2000" b="1" i="0" u="none" strike="noStrike" cap="none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53" name="Google Shape;150;p26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44150" y="260350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Google Shape;151;p26"/>
          <p:cNvSpPr txBox="1"/>
          <p:nvPr/>
        </p:nvSpPr>
        <p:spPr>
          <a:xfrm>
            <a:off x="1115219" y="3133458"/>
            <a:ext cx="983853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 FINANCE MANAGEMENT</a:t>
            </a:r>
            <a:endParaRPr sz="32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1048587" name="Date Placeholder 7"/>
          <p:cNvSpPr>
            <a:spLocks noGrp="1"/>
          </p:cNvSpPr>
          <p:nvPr>
            <p:ph type="dt" idx="4294967295"/>
          </p:nvPr>
        </p:nvSpPr>
        <p:spPr>
          <a:xfrm>
            <a:off x="608012" y="6352317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 dirty="0"/>
          </a:p>
        </p:txBody>
      </p:sp>
      <p:sp>
        <p:nvSpPr>
          <p:cNvPr id="1048588" name="Google Shape;146;p26"/>
          <p:cNvSpPr txBox="1"/>
          <p:nvPr/>
        </p:nvSpPr>
        <p:spPr>
          <a:xfrm>
            <a:off x="0" y="3929440"/>
            <a:ext cx="11563350" cy="17224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PRESENTED BY                                                              SUPERVISOR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HARINI.V.K    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                         	                     Mrs. </a:t>
            </a:r>
            <a:r>
              <a:rPr lang="en-GB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G.ISWARYA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8115U24AD035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                                </a:t>
            </a:r>
            <a:r>
              <a:rPr kumimoji="0" lang="en-US" sz="2400" b="1" i="0" u="none" strike="noStrike" kern="0" cap="none" spc="0" normalizeH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                 AP/A</a:t>
            </a: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I&amp;DS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					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8B8B8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157;p27"/>
          <p:cNvSpPr txBox="1">
            <a:spLocks noGrp="1"/>
          </p:cNvSpPr>
          <p:nvPr>
            <p:ph type="title" idx="4294967295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PRESENTATION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OVERVIEW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2" name="Google Shape;158;p27"/>
          <p:cNvSpPr txBox="1"/>
          <p:nvPr/>
        </p:nvSpPr>
        <p:spPr>
          <a:xfrm>
            <a:off x="831850" y="1514475"/>
            <a:ext cx="9822898" cy="469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847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Project Introduction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Objective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Problem Statement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marR="0" lvl="0" indent="-457200" algn="just" rtl="0">
              <a:lnSpc>
                <a:spcPct val="15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Architecture Diagram</a:t>
            </a:r>
            <a:endParaRPr lang="zh-CN" altLang="en-US" dirty="0"/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Used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8470" indent="-457200" algn="just">
              <a:lnSpc>
                <a:spcPct val="150000"/>
              </a:lnSpc>
              <a:spcBef>
                <a:spcPts val="325"/>
              </a:spcBef>
              <a:buSzPts val="1800"/>
              <a:buFont typeface="Arial" panose="020B0604020202020204"/>
              <a:buAutoNum type="arabicPeriod"/>
            </a:pP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4" name="Google Shape;159;p2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oogle Shape;160;p2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3" name="Date Placeholder 5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Google Shape;166;p2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PROJECT INTRODUCTION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8" name="Google Shape;167;p28"/>
          <p:cNvSpPr txBox="1">
            <a:spLocks noGrp="1"/>
          </p:cNvSpPr>
          <p:nvPr>
            <p:ph type="body" idx="1"/>
          </p:nvPr>
        </p:nvSpPr>
        <p:spPr>
          <a:xfrm>
            <a:off x="873900" y="1514475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Personal Finance Management System designed to help users record their income and expenses, manage budgets, and monitor monthly financial activity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6" name="Google Shape;168;p2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7" name="Google Shape;169;p28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9" name="Date Placeholder 5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75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OBJECTIVE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Google Shape;176;p2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Google Shape;177;p29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4" name="Google Shape;178;p29"/>
          <p:cNvSpPr txBox="1">
            <a:spLocks noGrp="1"/>
          </p:cNvSpPr>
          <p:nvPr>
            <p:ph type="body" idx="1"/>
          </p:nvPr>
        </p:nvSpPr>
        <p:spPr>
          <a:xfrm>
            <a:off x="873912" y="1416150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provide an easy-to-use platform for managing personal income and expenses.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help users create budgets and track spending patterns.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generate financial reports and visual insights for decision making.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SzPts val="3200"/>
              <a:buNone/>
            </a:pP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5" name="Date Placeholder 5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184;p3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PROBLEM STATEMENT 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0" name="Google Shape;185;p3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1" name="Google Shape;186;p30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20" name="Google Shape;187;p30"/>
          <p:cNvSpPr txBox="1">
            <a:spLocks noGrp="1"/>
          </p:cNvSpPr>
          <p:nvPr>
            <p:ph type="body" idx="1"/>
          </p:nvPr>
        </p:nvSpPr>
        <p:spPr>
          <a:xfrm>
            <a:off x="873150" y="1514475"/>
            <a:ext cx="10444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individuals fail to manage their money efficiently due to lack of planning and real-time tracking of income and expenses. Manual methods such as notebook or spreadsheets are time consuming, error-prone, and lack automation.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1" name="Date Placeholder 5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t="9710"/>
          <a:stretch>
            <a:fillRect/>
          </a:stretch>
        </p:blipFill>
        <p:spPr>
          <a:xfrm>
            <a:off x="3682093" y="1230086"/>
            <a:ext cx="4305300" cy="56279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02;p3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MODULES USED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6" name="Google Shape;203;p3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7" name="Google Shape;204;p32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37" name="Google Shape;205;p32"/>
          <p:cNvSpPr txBox="1">
            <a:spLocks noGrp="1"/>
          </p:cNvSpPr>
          <p:nvPr>
            <p:ph type="body" idx="1"/>
          </p:nvPr>
        </p:nvSpPr>
        <p:spPr>
          <a:xfrm>
            <a:off x="831813" y="742518"/>
            <a:ext cx="10444200" cy="6359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secure login and user management.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Management Module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record different sources of income.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Tracking Module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categorize and track expenses.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Planner Module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set financial goals and monthly budgets.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Savings &amp; Investment Module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track savings accounts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8" name="Date Placeholder 5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MODULE 1  - USER AUTHENTICATION 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68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9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43" name="Google Shape;250;p37"/>
          <p:cNvSpPr txBox="1">
            <a:spLocks noGrp="1"/>
          </p:cNvSpPr>
          <p:nvPr>
            <p:ph type="body" idx="1"/>
          </p:nvPr>
        </p:nvSpPr>
        <p:spPr>
          <a:xfrm>
            <a:off x="873813" y="1330325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secure login and user management.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only authorized users can access the system.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user registration, login, password protection, and session handling.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4" name="Date Placeholder 5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Google Shape;247;p37"/>
          <p:cNvSpPr txBox="1">
            <a:spLocks noGrp="1"/>
          </p:cNvSpPr>
          <p:nvPr>
            <p:ph type="title"/>
          </p:nvPr>
        </p:nvSpPr>
        <p:spPr>
          <a:xfrm>
            <a:off x="510209" y="263500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  <a:buSzPts val="3000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MODULE 2 – INCOME MANAGEMENT 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70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1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49" name="Google Shape;250;p37"/>
          <p:cNvSpPr txBox="1">
            <a:spLocks noGrp="1"/>
          </p:cNvSpPr>
          <p:nvPr>
            <p:ph type="body" idx="1"/>
          </p:nvPr>
        </p:nvSpPr>
        <p:spPr>
          <a:xfrm>
            <a:off x="873900" y="1166850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record different sources of income.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record, organize, and monitor all source of income.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the foundation of financial planning, as accurate income details are required for budgeting, saving, and investment decision.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0" name="Date Placeholder 5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Google Shape;247;p37"/>
          <p:cNvSpPr txBox="1">
            <a:spLocks noGrp="1"/>
          </p:cNvSpPr>
          <p:nvPr>
            <p:ph type="title"/>
          </p:nvPr>
        </p:nvSpPr>
        <p:spPr>
          <a:xfrm>
            <a:off x="510209" y="263500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  <a:buSzPts val="3000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MODULE 3 – EXPENSE TRACKING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70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1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49" name="Google Shape;250;p37"/>
          <p:cNvSpPr txBox="1">
            <a:spLocks noGrp="1"/>
          </p:cNvSpPr>
          <p:nvPr>
            <p:ph type="body" idx="1"/>
          </p:nvPr>
        </p:nvSpPr>
        <p:spPr>
          <a:xfrm>
            <a:off x="873900" y="1166850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record daily expenses with date, category, description, type, and amount.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each expenses entry securely in the system database.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track spending patterns and identify high - expense areas 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0" name="Date Placeholder 5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13/12/2025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Google Shape;247;p37"/>
          <p:cNvSpPr txBox="1">
            <a:spLocks noGrp="1"/>
          </p:cNvSpPr>
          <p:nvPr>
            <p:ph type="title"/>
          </p:nvPr>
        </p:nvSpPr>
        <p:spPr>
          <a:xfrm>
            <a:off x="510209" y="263500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  <a:buSzPts val="3000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MODULE 4 –  BUDGET PLANNER 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70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1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49" name="Google Shape;250;p37"/>
          <p:cNvSpPr txBox="1">
            <a:spLocks noGrp="1"/>
          </p:cNvSpPr>
          <p:nvPr>
            <p:ph type="body" idx="1"/>
          </p:nvPr>
        </p:nvSpPr>
        <p:spPr>
          <a:xfrm>
            <a:off x="873900" y="1166850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set monthly or category - wise budgets.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define spending limits for categories like food, teansport, rent, etc.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remaining budget amount for each category.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0" name="Date Placeholder 5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Google Shape;247;p37"/>
          <p:cNvSpPr txBox="1">
            <a:spLocks noGrp="1"/>
          </p:cNvSpPr>
          <p:nvPr>
            <p:ph type="title"/>
          </p:nvPr>
        </p:nvSpPr>
        <p:spPr>
          <a:xfrm>
            <a:off x="510209" y="263500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  <a:buSzPts val="3000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MODULE 5 –  SAVINGS &amp; INVESTMENT 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70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1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49" name="Google Shape;250;p37"/>
          <p:cNvSpPr txBox="1">
            <a:spLocks noGrp="1"/>
          </p:cNvSpPr>
          <p:nvPr>
            <p:ph type="body" idx="1"/>
          </p:nvPr>
        </p:nvSpPr>
        <p:spPr>
          <a:xfrm>
            <a:off x="873900" y="1166850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set monthly or yearly savings goal.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track the amount saved over time compared to the target.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summaries showing total savings and investments.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0" name="Date Placeholder 5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981" y="1258349"/>
            <a:ext cx="9758449" cy="50980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" y="1600835"/>
            <a:ext cx="12179300" cy="45065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3130" y="1962150"/>
            <a:ext cx="5344795" cy="33407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CONCLUSION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78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9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72" name="Google Shape;250;p37"/>
          <p:cNvSpPr txBox="1">
            <a:spLocks noGrp="1"/>
          </p:cNvSpPr>
          <p:nvPr>
            <p:ph type="body" idx="1"/>
          </p:nvPr>
        </p:nvSpPr>
        <p:spPr>
          <a:xfrm>
            <a:off x="873813" y="1445335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just">
              <a:lnSpc>
                <a:spcPct val="200000"/>
              </a:lnSpc>
              <a:spcBef>
                <a:spcPts val="0"/>
              </a:spcBef>
              <a:buSzPts val="3200"/>
              <a:buFont typeface="Wingdings" panose="05000000000000000000" pitchFamily="2" charset="2"/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provides a simple and effective platform for managing personal finances digitally. By integrating budgeting, expense tracking, and investment monitoring, the system enables users to take control of their financial health.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3" name="Date Placeholder 5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FUTURE SCOPE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80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1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78" name="Google Shape;250;p37"/>
          <p:cNvSpPr txBox="1">
            <a:spLocks noGrp="1"/>
          </p:cNvSpPr>
          <p:nvPr>
            <p:ph type="body" idx="1"/>
          </p:nvPr>
        </p:nvSpPr>
        <p:spPr>
          <a:xfrm>
            <a:off x="894150" y="1271905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bank accounts for automatic transaction updates.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financial advice and investment recommendations.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just">
              <a:lnSpc>
                <a:spcPct val="200000"/>
              </a:lnSpc>
              <a:spcBef>
                <a:spcPts val="0"/>
              </a:spcBef>
              <a:buSzPts val="3200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Multi-user family budget management system.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9" name="Date Placeholder 5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Google Shape;247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 b="1" dirty="0"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REFERENCES</a:t>
            </a:r>
            <a:endParaRPr sz="3000" b="1" dirty="0">
              <a:latin typeface="Times New Roman" panose="02020603050405020304" pitchFamily="18" charset="0"/>
              <a:ea typeface="Arial" panose="020B0604020202020204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097182" name="Google Shape;248;p3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3" name="Google Shape;249;p37" descr="KRCE Tiruchirappalli : Admission 2024, Courses, Fees, Placement, Cut Off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6813" y="333375"/>
            <a:ext cx="12192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84" name="Google Shape;250;p37"/>
          <p:cNvSpPr txBox="1">
            <a:spLocks noGrp="1"/>
          </p:cNvSpPr>
          <p:nvPr>
            <p:ph type="body" idx="1"/>
          </p:nvPr>
        </p:nvSpPr>
        <p:spPr>
          <a:xfrm>
            <a:off x="873813" y="1166850"/>
            <a:ext cx="10402200" cy="4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514350" algn="just">
              <a:lnSpc>
                <a:spcPct val="16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Complete — by Steve McConnell. Not Java specific, but an excellent guide to writing clean, maintainable, high quality code.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60000"/>
              </a:lnSpc>
              <a:spcBef>
                <a:spcPts val="0"/>
              </a:spcBef>
              <a:buSzPts val="3200"/>
              <a:buFont typeface="+mj-lt"/>
              <a:buAutoNum type="arabicPeriod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Patterns: Elements of Reusable Object-Oriented Software (by the “Gang of Four”) — helps you understand common object oriented design patterns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5" name="Date Placeholder 5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689" name="Date Placeholder 5"/>
          <p:cNvSpPr>
            <a:spLocks noGrp="1"/>
          </p:cNvSpPr>
          <p:nvPr>
            <p:ph type="dt" idx="4294967295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2/6/2025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3651</Words>
  <Application>WPS Presentation</Application>
  <PresentationFormat>Widescreen</PresentationFormat>
  <Paragraphs>149</Paragraphs>
  <Slides>19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SimSun</vt:lpstr>
      <vt:lpstr>Wingdings</vt:lpstr>
      <vt:lpstr>Arial</vt:lpstr>
      <vt:lpstr>Calibri</vt:lpstr>
      <vt:lpstr>Times New Roman</vt:lpstr>
      <vt:lpstr>Times New Roman</vt:lpstr>
      <vt:lpstr>Arial Narrow</vt:lpstr>
      <vt:lpstr>Microsoft YaHei</vt:lpstr>
      <vt:lpstr>Arial Unicode MS</vt:lpstr>
      <vt:lpstr>Office Theme</vt:lpstr>
      <vt:lpstr>1_Office Theme</vt:lpstr>
      <vt:lpstr>PowerPoint 演示文稿</vt:lpstr>
      <vt:lpstr>PRESENTATION OVERVIEW</vt:lpstr>
      <vt:lpstr>PROJECT INTRODUCTION</vt:lpstr>
      <vt:lpstr>OBJECTIVE</vt:lpstr>
      <vt:lpstr>PROBLEM STATEMENT </vt:lpstr>
      <vt:lpstr>ARCHITECTURE DIAGRAM</vt:lpstr>
      <vt:lpstr>MODULES USED</vt:lpstr>
      <vt:lpstr>MODULE 1  - USER AUTHENTICATION </vt:lpstr>
      <vt:lpstr>MODULE 2 – INCOME MANAGEMENT </vt:lpstr>
      <vt:lpstr>MODULE 2 – INCOME MANAGEMENT </vt:lpstr>
      <vt:lpstr>MODULE 2 – INCOME MANAGEMENT </vt:lpstr>
      <vt:lpstr>MODULE 2 – INCOME MANAGEMENT </vt:lpstr>
      <vt:lpstr>IMPLEMENTATION</vt:lpstr>
      <vt:lpstr>IMPLEMENTATION</vt:lpstr>
      <vt:lpstr>IMPLEMENTATION</vt:lpstr>
      <vt:lpstr>CONCLUSION</vt:lpstr>
      <vt:lpstr>FUTURE SCOPE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EXAM</dc:creator>
  <cp:lastModifiedBy>Harini Kannan</cp:lastModifiedBy>
  <cp:revision>21</cp:revision>
  <dcterms:created xsi:type="dcterms:W3CDTF">2025-06-04T17:03:00Z</dcterms:created>
  <dcterms:modified xsi:type="dcterms:W3CDTF">2025-12-12T15:25:58Z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DC5CC4FE942B48F2BF3F795B8DD7F732_13</vt:lpwstr>
  </property>
  <property fmtid="{D5CDD505-2E9C-101B-9397-08002B2CF9AE}" pid="3" name="KSOProductBuildVer">
    <vt:lpwstr>1033-12.2.0.23155</vt:lpwstr>
  </property>
</Properties>
</file>